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07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35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89" y="109257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8282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TURKISTONDA JADIDCHILIK HARAKATI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1" y="4114800"/>
            <a:ext cx="60789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Jadidchilik — XIX asr oxiri va XX asr boshlarida Turkistonda yuzaga kelgan ma’rifatparvarlik, yangilanish va islohotchilik harakati bo‘lib, u eski ta’lim tizimini o‘zgartirish, jamiyatni savodli va taraqqiyparvar qilishga qaratilgan keng ko‘lamli harakat edi.</a:t>
            </a:r>
            <a:endParaRPr lang="en-US" sz="1750" dirty="0"/>
          </a:p>
        </p:txBody>
      </p:sp>
      <p:pic>
        <p:nvPicPr>
          <p:cNvPr id="6" name="Picture 5" descr="A group of men standing together&#10;&#10;AI-generated content may be incorrect.">
            <a:extLst>
              <a:ext uri="{FF2B5EF4-FFF2-40B4-BE49-F238E27FC236}">
                <a16:creationId xmlns:a16="http://schemas.microsoft.com/office/drawing/2014/main" id="{6B52E295-ED90-461A-EE00-83E996E111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75" r="20875"/>
          <a:stretch>
            <a:fillRect/>
          </a:stretch>
        </p:blipFill>
        <p:spPr>
          <a:xfrm>
            <a:off x="7399265" y="-25120"/>
            <a:ext cx="7231135" cy="825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8282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HARAKATNING KELIB CHIQISHI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XIX asrning ikkinchi yarmida Rossiya imperiyasi mustamlakachiligi kuchaygan bir davrda ziyolilar xalqni ma’rifat orqali uyg‘otish g‘oyasini ilgari surdilar. Ma’rifatparvarlar jamiyatdagi ijtimoiy-iqtisodiy muammolarni bilim va zamonaviy ta’lim orqali hal qilish mumkinligini ko‘rsatdilar.</a:t>
            </a:r>
            <a:endParaRPr lang="en-US" sz="1750" dirty="0"/>
          </a:p>
        </p:txBody>
      </p:sp>
      <p:pic>
        <p:nvPicPr>
          <p:cNvPr id="6" name="Picture 5" descr="A group of people walking on a street&#10;&#10;AI-generated content may be incorrect.">
            <a:extLst>
              <a:ext uri="{FF2B5EF4-FFF2-40B4-BE49-F238E27FC236}">
                <a16:creationId xmlns:a16="http://schemas.microsoft.com/office/drawing/2014/main" id="{988F900F-C6D0-6EE5-FB0F-8AD19FE30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0"/>
            <a:ext cx="585216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5781"/>
            <a:ext cx="73084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8282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ZIYOLILARNING O‘RNI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98188"/>
            <a:ext cx="4196358" cy="1577578"/>
          </a:xfrm>
          <a:prstGeom prst="roundRect">
            <a:avLst>
              <a:gd name="adj" fmla="val 9274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598188"/>
            <a:ext cx="121920" cy="1577578"/>
          </a:xfrm>
          <a:prstGeom prst="roundRect">
            <a:avLst>
              <a:gd name="adj" fmla="val 78139"/>
            </a:avLst>
          </a:prstGeom>
          <a:solidFill>
            <a:srgbClr val="282824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855482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Ilg‘or g‘oyalarni ommaga yoydi.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216962" y="3598188"/>
            <a:ext cx="4196358" cy="1577578"/>
          </a:xfrm>
          <a:prstGeom prst="roundRect">
            <a:avLst>
              <a:gd name="adj" fmla="val 9274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86482" y="3598188"/>
            <a:ext cx="121920" cy="1577578"/>
          </a:xfrm>
          <a:prstGeom prst="roundRect">
            <a:avLst>
              <a:gd name="adj" fmla="val 78139"/>
            </a:avLst>
          </a:prstGeom>
          <a:solidFill>
            <a:srgbClr val="282824"/>
          </a:solidFill>
          <a:ln/>
        </p:spPr>
      </p:sp>
      <p:sp>
        <p:nvSpPr>
          <p:cNvPr id="8" name="Text 6"/>
          <p:cNvSpPr/>
          <p:nvPr/>
        </p:nvSpPr>
        <p:spPr>
          <a:xfrm>
            <a:off x="5565696" y="3855482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Yangi ta’lim tizimini yaratishga intildi.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40133" y="3598188"/>
            <a:ext cx="4196358" cy="1577578"/>
          </a:xfrm>
          <a:prstGeom prst="roundRect">
            <a:avLst>
              <a:gd name="adj" fmla="val 9274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9653" y="3598188"/>
            <a:ext cx="121920" cy="1577578"/>
          </a:xfrm>
          <a:prstGeom prst="roundRect">
            <a:avLst>
              <a:gd name="adj" fmla="val 78139"/>
            </a:avLst>
          </a:prstGeom>
          <a:solidFill>
            <a:srgbClr val="282824"/>
          </a:solidFill>
          <a:ln/>
        </p:spPr>
      </p:sp>
      <p:sp>
        <p:nvSpPr>
          <p:cNvPr id="11" name="Text 9"/>
          <p:cNvSpPr/>
          <p:nvPr/>
        </p:nvSpPr>
        <p:spPr>
          <a:xfrm>
            <a:off x="9988868" y="3855482"/>
            <a:ext cx="359033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Gazeta, jurnal, maktablar orqali xalqni o‘qitdi.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54309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 bir o‘zgarishning markazida ziyolilar turdi. Savodxonlikni oshirish Turkistonning taraqqiyotiga asos deb qaraldi.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DA87FF-39C6-3ED7-63A2-088FADA2C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407" y="7746747"/>
            <a:ext cx="1879993" cy="4429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60876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8282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ISMOIL G‘ASPIRALI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39828" y="214562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Jadidchilik harakatining asoschisi — </a:t>
            </a:r>
            <a:r>
              <a:rPr lang="en-US" sz="1750" b="1" dirty="0">
                <a:solidFill>
                  <a:srgbClr val="325F7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Ismoil G‘aspirali (1851–1914)</a:t>
            </a: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39828" y="2712601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«Tarjimon» gazetasini chiqarib, turkiy dunyoda ma’rifat g‘oyalarini tarqatdi.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39828" y="3517702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1893-yilda Turkistonga kelib, yangi usul maktablari ochilishiga turtki bo‘ldi.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39828" y="432280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“Til birligi, fikr birligi, ish birligi” g‘oyasini ilgari surdi.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56BAC5-B70F-9187-3A57-8F6557FA7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407" y="7746747"/>
            <a:ext cx="1879993" cy="442988"/>
          </a:xfrm>
          <a:prstGeom prst="rect">
            <a:avLst/>
          </a:prstGeom>
        </p:spPr>
      </p:pic>
      <p:pic>
        <p:nvPicPr>
          <p:cNvPr id="10" name="Picture 9" descr="A painting of a person in a suit&#10;&#10;AI-generated content may be incorrect.">
            <a:extLst>
              <a:ext uri="{FF2B5EF4-FFF2-40B4-BE49-F238E27FC236}">
                <a16:creationId xmlns:a16="http://schemas.microsoft.com/office/drawing/2014/main" id="{166E4381-BA7E-6B64-742B-F8C1781500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760"/>
          <a:stretch>
            <a:fillRect/>
          </a:stretch>
        </p:blipFill>
        <p:spPr>
          <a:xfrm>
            <a:off x="0" y="2284793"/>
            <a:ext cx="4748981" cy="5944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17306" y="10291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8282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YANGI USUL MAKTABLARI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017306" y="278689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Jadidlar eski, yodlashga asoslangan maktab o‘rniga </a:t>
            </a:r>
            <a:r>
              <a:rPr lang="en-US" sz="1750" b="1" dirty="0">
                <a:solidFill>
                  <a:srgbClr val="325F7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yangi usul</a:t>
            </a: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(usuli jadid) maktablarini tashkil etdilar. Ularning xususiyatlari: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017306" y="376785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5DFD2"/>
          </a:solidFill>
          <a:ln w="7620">
            <a:solidFill>
              <a:srgbClr val="CBC5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54422" y="3845719"/>
            <a:ext cx="47385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O‘qitishda tovush usuli qo‘llandi.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017306" y="473178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5DFD2"/>
          </a:solidFill>
          <a:ln w="7620">
            <a:solidFill>
              <a:srgbClr val="CBC5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54422" y="4809649"/>
            <a:ext cx="681930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Matematik, geografiya, tarix kabi dunyoviy fanlar o‘qitila boshlandi.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017306" y="597193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5DFD2"/>
          </a:solidFill>
          <a:ln w="7620">
            <a:solidFill>
              <a:srgbClr val="CBC5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54422" y="6049804"/>
            <a:ext cx="681930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1893-yilda Buxoroda birinchi yangi usul maktabi ochildi. 1898–1899-yillardan boshlab Qo‘qon, Andijon, Toshkentda ham maktablar ko‘paydi.</a:t>
            </a:r>
            <a:endParaRPr lang="en-US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25A221-F3C1-901D-F75C-58387A392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407" y="7746747"/>
            <a:ext cx="1879993" cy="442988"/>
          </a:xfrm>
          <a:prstGeom prst="rect">
            <a:avLst/>
          </a:prstGeom>
        </p:spPr>
      </p:pic>
      <p:pic>
        <p:nvPicPr>
          <p:cNvPr id="2050" name="Picture 2" descr="Конурходжа Ходжиков – яркий представитель Туркестанского ...">
            <a:extLst>
              <a:ext uri="{FF2B5EF4-FFF2-40B4-BE49-F238E27FC236}">
                <a16:creationId xmlns:a16="http://schemas.microsoft.com/office/drawing/2014/main" id="{53E3DE26-A41D-F37D-AFCB-165D2B7A63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4" r="8728"/>
          <a:stretch>
            <a:fillRect/>
          </a:stretch>
        </p:blipFill>
        <p:spPr bwMode="auto">
          <a:xfrm>
            <a:off x="293549" y="1298975"/>
            <a:ext cx="6183451" cy="580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0440" y="1443871"/>
            <a:ext cx="1366516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8282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TURKISTON, BUXORO VA XIVA JADIDLARI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0462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Jadidchilik harakati uch hududda shakllandi: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322677"/>
            <a:ext cx="3664744" cy="2410897"/>
          </a:xfrm>
          <a:prstGeom prst="roundRect">
            <a:avLst>
              <a:gd name="adj" fmla="val 3952"/>
            </a:avLst>
          </a:prstGeom>
          <a:solidFill>
            <a:srgbClr val="E5DFD2"/>
          </a:solidFill>
          <a:ln w="7620">
            <a:solidFill>
              <a:srgbClr val="CBC5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3557111"/>
            <a:ext cx="29822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Turkiston jadidlari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047530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siyosiy faolligi kuchli, imperiya siyosatiga qarshi kurashgan ziyolilar.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332267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5DFD2"/>
          </a:solidFill>
          <a:ln w="7620">
            <a:solidFill>
              <a:srgbClr val="CBC5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9782" y="35571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Buxoro jadidlari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9782" y="4047530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hunarmand, o‘qituvchi, savdogarlar ishtirok etgan; og‘ir siyosiy sharoitda faoliyat yuritgan.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960388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E5DFD2"/>
          </a:solidFill>
          <a:ln w="7620">
            <a:solidFill>
              <a:srgbClr val="CBC5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8224" y="61948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5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Xiva jadidlari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224" y="668524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o‘ng va so‘l oqimlarga bo‘lingan.</a:t>
            </a:r>
            <a:endParaRPr lang="en-US" sz="1750" dirty="0"/>
          </a:p>
        </p:txBody>
      </p:sp>
      <p:pic>
        <p:nvPicPr>
          <p:cNvPr id="3074" name="Picture 2" descr="Tashkil topish, yuksalish va xotima. O'zbek xonliklari chegaralarining  yangi xaritalari">
            <a:extLst>
              <a:ext uri="{FF2B5EF4-FFF2-40B4-BE49-F238E27FC236}">
                <a16:creationId xmlns:a16="http://schemas.microsoft.com/office/drawing/2014/main" id="{96E5A4EC-C16A-9F82-9938-AB89155342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10" t="13219" r="1771"/>
          <a:stretch>
            <a:fillRect/>
          </a:stretch>
        </p:blipFill>
        <p:spPr bwMode="auto">
          <a:xfrm>
            <a:off x="9391650" y="3470772"/>
            <a:ext cx="5238750" cy="4758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82260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8282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XIVA JADIDCHILIK OQIMLARI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071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F7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O‘ng oqim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388287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Islomxo‘ja boshchiligida, xonlikni saqlagan holda islohotlar o‘tkazishni maqsad qilgan boy savdogarlar va sanoatchilar.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8071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1738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So‘l oqim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4388287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Bobooxun Salimov rahbarligida xalqni siyosiy faollikka chorlagan hunarmand va ziyolilar. Asosiy maqsad — yangi maktablar ochish, modernizatsiya qilish.</a:t>
            </a:r>
            <a:endParaRPr lang="en-US" sz="1750" dirty="0"/>
          </a:p>
        </p:txBody>
      </p:sp>
      <p:pic>
        <p:nvPicPr>
          <p:cNvPr id="9" name="Picture 8" descr="A person in a robe and hat standing next to a child&#10;&#10;AI-generated content may be incorrect.">
            <a:extLst>
              <a:ext uri="{FF2B5EF4-FFF2-40B4-BE49-F238E27FC236}">
                <a16:creationId xmlns:a16="http://schemas.microsoft.com/office/drawing/2014/main" id="{EE7EE3A0-DDD0-B747-95F3-DCED9EF0E8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06" r="8842"/>
          <a:stretch>
            <a:fillRect/>
          </a:stretch>
        </p:blipFill>
        <p:spPr>
          <a:xfrm>
            <a:off x="8845045" y="-21908"/>
            <a:ext cx="5802678" cy="82515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8791"/>
            <a:ext cx="98620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8282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HARAKATNING IKKI BOSQICHI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211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Jadidchilik Turkistonda ikki bosqichda rivojlandi: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39252"/>
            <a:ext cx="6521410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673322"/>
            <a:ext cx="606778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F7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Ma’rifatparvarlik bosqichi (XIX asr oxiri – 1917)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518071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Maktablar ochish, kitob chop etish, o‘quv dasturlarini yangilash.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539252"/>
            <a:ext cx="6521410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2014" y="4673322"/>
            <a:ext cx="53282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1738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Siyosiy bosqich (1917-yildan keyin)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542014" y="5163741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Mustaqillik g‘oyalari, siyosiy tashkilotlar tuzish, milliy uyg‘onish.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3ECEBE-368C-4A27-1A8B-FC9556FB0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0407" y="7746747"/>
            <a:ext cx="1879993" cy="442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3584734"/>
            <a:ext cx="111461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8282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JADIDLARNING AMALIY FAOLIYATI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36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Jadidlar quyidagi sohalarda faoliyat yuritdi: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2517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Matbuot:</a:t>
            </a: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gazeta va jurnallar chiqarildi.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693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Noshirlik:</a:t>
            </a: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o‘quv qo‘llanmalar, kitoblar bosildi.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1361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Teatr:</a:t>
            </a: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yangi sahna san’ati rivojlantirildi.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75417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1898-yilda Qo‘qonda Salohiddin domla, 1899-yilda Andijonda Shamsiddin domla va Toshkentda Mannon qori maktablar ochdi.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64A4D8-DA86-2BBB-5923-019EE4371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407" y="7746747"/>
            <a:ext cx="1879993" cy="442988"/>
          </a:xfrm>
          <a:prstGeom prst="rect">
            <a:avLst/>
          </a:prstGeom>
        </p:spPr>
      </p:pic>
      <p:pic>
        <p:nvPicPr>
          <p:cNvPr id="11" name="Picture 10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A13B23A7-76D2-D0EA-F6E6-C20B17F6FF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6396"/>
          <a:stretch>
            <a:fillRect/>
          </a:stretch>
        </p:blipFill>
        <p:spPr>
          <a:xfrm>
            <a:off x="0" y="-388675"/>
            <a:ext cx="14630400" cy="36332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66185"/>
            <a:ext cx="74784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8282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XULOSA VA AHAMIYATI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51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Jadidchilik harakati Turkistonning ma’naviy-siyosiy uyg‘onishida beqiyos ahamiyatga ega bo‘ldi. Ularning faoliyati: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4331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Savodxonlikni oshirdi.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8753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Milliy o‘zlikni anglashni kuchaytirdi.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3175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Keyingi mustaqillik harakatlariga poydevor yaratdi.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9356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Jadidlar xalqning kelajagi uchun kurashgan ma’rifatparvar avlod bo‘lib tarixda o‘z o‘rniga ega.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A8CC19-6DC4-BE4D-D462-EE58EFD2B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0407" y="7746747"/>
            <a:ext cx="1879993" cy="4429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551</Words>
  <Application>Microsoft Office PowerPoint</Application>
  <PresentationFormat>Custom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DM Sans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Akhmadaliyev A</dc:creator>
  <cp:lastModifiedBy>Akhmadaliyev A</cp:lastModifiedBy>
  <cp:revision>2</cp:revision>
  <dcterms:created xsi:type="dcterms:W3CDTF">2025-12-09T16:42:33Z</dcterms:created>
  <dcterms:modified xsi:type="dcterms:W3CDTF">2025-12-09T17:10:59Z</dcterms:modified>
</cp:coreProperties>
</file>